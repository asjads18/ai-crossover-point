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286000"/>
            <a:ext cx="10332720" cy="1188720"/>
          </a:xfrm>
          <a:prstGeom prst="rect">
            <a:avLst/>
          </a:prstGeom>
          <a:noFill/>
        </p:spPr>
        <p:txBody>
          <a:bodyPr wrap="square">
            <a:spAutoFit/>
          </a:bodyPr>
          <a:lstStyle/>
          <a:p>
            <a:pPr algn="ctr">
              <a:spcAft>
                <a:spcPts val="800"/>
              </a:spcAft>
            </a:pPr>
            <a:r>
              <a:rPr sz="5400" b="1" i="0">
                <a:solidFill>
                  <a:srgbClr val="FFFFFF"/>
                </a:solidFill>
                <a:latin typeface="Segoe UI"/>
              </a:rPr>
              <a:t>AI CROSSOVER POINT</a:t>
            </a:r>
          </a:p>
        </p:txBody>
      </p:sp>
      <p:sp>
        <p:nvSpPr>
          <p:cNvPr id="3" name="TextBox 2"/>
          <p:cNvSpPr txBox="1"/>
          <p:nvPr/>
        </p:nvSpPr>
        <p:spPr>
          <a:xfrm>
            <a:off x="914400" y="3429000"/>
            <a:ext cx="10332720" cy="731520"/>
          </a:xfrm>
          <a:prstGeom prst="rect">
            <a:avLst/>
          </a:prstGeom>
          <a:noFill/>
        </p:spPr>
        <p:txBody>
          <a:bodyPr wrap="square">
            <a:spAutoFit/>
          </a:bodyPr>
          <a:lstStyle/>
          <a:p>
            <a:pPr algn="ctr">
              <a:spcAft>
                <a:spcPts val="800"/>
              </a:spcAft>
            </a:pPr>
            <a:r>
              <a:rPr sz="2000" b="0" i="0">
                <a:solidFill>
                  <a:srgbClr val="93C5FD"/>
                </a:solidFill>
                <a:latin typeface="Segoe UI"/>
              </a:rPr>
              <a:t>Making a 7B AI model answer faster by letting a tiny model guess first</a:t>
            </a:r>
          </a:p>
        </p:txBody>
      </p:sp>
      <p:sp>
        <p:nvSpPr>
          <p:cNvPr id="4" name="TextBox 3"/>
          <p:cNvSpPr txBox="1"/>
          <p:nvPr/>
        </p:nvSpPr>
        <p:spPr>
          <a:xfrm>
            <a:off x="914400" y="5852160"/>
            <a:ext cx="10332720" cy="548640"/>
          </a:xfrm>
          <a:prstGeom prst="rect">
            <a:avLst/>
          </a:prstGeom>
          <a:noFill/>
        </p:spPr>
        <p:txBody>
          <a:bodyPr wrap="square">
            <a:spAutoFit/>
          </a:bodyPr>
          <a:lstStyle/>
          <a:p>
            <a:pPr algn="ctr">
              <a:spcAft>
                <a:spcPts val="800"/>
              </a:spcAft>
            </a:pPr>
            <a:r>
              <a:rPr sz="1400" b="0" i="0">
                <a:solidFill>
                  <a:srgbClr val="CBD5E1"/>
                </a:solidFill>
                <a:latin typeface="Segoe UI"/>
              </a:rPr>
              <a:t>A working prototype measuring speculative decoding on consumer hardware  |  Hackathon Submission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spAutoFit/>
          </a:bodyPr>
          <a:lstStyle/>
          <a:p>
            <a:pPr algn="l">
              <a:spcAft>
                <a:spcPts val="800"/>
              </a:spcAft>
            </a:pPr>
            <a:r>
              <a:rPr sz="1300" b="1" i="0">
                <a:solidFill>
                  <a:srgbClr val="3B82F6"/>
                </a:solidFill>
                <a:latin typeface="Segoe UI"/>
              </a:rPr>
              <a:t>THE PROBLEM</a:t>
            </a:r>
          </a:p>
        </p:txBody>
      </p:sp>
      <p:sp>
        <p:nvSpPr>
          <p:cNvPr id="3" name="TextBox 2"/>
          <p:cNvSpPr txBox="1"/>
          <p:nvPr/>
        </p:nvSpPr>
        <p:spPr>
          <a:xfrm>
            <a:off x="548640" y="658368"/>
            <a:ext cx="11064240" cy="822960"/>
          </a:xfrm>
          <a:prstGeom prst="rect">
            <a:avLst/>
          </a:prstGeom>
          <a:noFill/>
        </p:spPr>
        <p:txBody>
          <a:bodyPr wrap="square">
            <a:spAutoFit/>
          </a:bodyPr>
          <a:lstStyle/>
          <a:p>
            <a:pPr algn="l">
              <a:spcAft>
                <a:spcPts val="800"/>
              </a:spcAft>
            </a:pPr>
            <a:r>
              <a:rPr sz="3000" b="1" i="0">
                <a:solidFill>
                  <a:srgbClr val="111827"/>
                </a:solidFill>
                <a:latin typeface="Segoe UI"/>
              </a:rPr>
              <a:t>Big AI models are accurate, but slow to talk to</a:t>
            </a:r>
          </a:p>
        </p:txBody>
      </p:sp>
      <p:sp>
        <p:nvSpPr>
          <p:cNvPr id="4" name="Rectangle 3"/>
          <p:cNvSpPr/>
          <p:nvPr/>
        </p:nvSpPr>
        <p:spPr>
          <a:xfrm>
            <a:off x="548640" y="1417320"/>
            <a:ext cx="11064240" cy="279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1200"/>
              </a:spcAft>
            </a:pPr>
            <a:r>
              <a:rPr sz="1900" b="1">
                <a:solidFill>
                  <a:srgbClr val="3B82F6"/>
                </a:solidFill>
              </a:rPr>
              <a:t>•  </a:t>
            </a:r>
            <a:r>
              <a:rPr sz="1900">
                <a:solidFill>
                  <a:srgbClr val="111827"/>
                </a:solidFill>
                <a:latin typeface="Segoe UI"/>
              </a:rPr>
              <a:t>Large language models (like the 7B model used here) generate text one word at a time — each word needs a full, expensive pass through the whole network.</a:t>
            </a:r>
          </a:p>
          <a:p>
            <a:pPr>
              <a:spcAft>
                <a:spcPts val="1200"/>
              </a:spcAft>
            </a:pPr>
            <a:r>
              <a:rPr sz="1900" b="1">
                <a:solidFill>
                  <a:srgbClr val="3B82F6"/>
                </a:solidFill>
              </a:rPr>
              <a:t>•  </a:t>
            </a:r>
            <a:r>
              <a:rPr sz="1900">
                <a:solidFill>
                  <a:srgbClr val="111827"/>
                </a:solidFill>
                <a:latin typeface="Segoe UI"/>
              </a:rPr>
              <a:t>This makes chatbots and coding assistants feel sluggish, especially on a normal consumer PC instead of a data-center server.</a:t>
            </a:r>
          </a:p>
          <a:p>
            <a:pPr>
              <a:spcAft>
                <a:spcPts val="1200"/>
              </a:spcAft>
            </a:pPr>
            <a:r>
              <a:rPr sz="1900" b="1">
                <a:solidFill>
                  <a:srgbClr val="3B82F6"/>
                </a:solidFill>
              </a:rPr>
              <a:t>•  </a:t>
            </a:r>
            <a:r>
              <a:rPr sz="1900">
                <a:solidFill>
                  <a:srgbClr val="111827"/>
                </a:solidFill>
                <a:latin typeface="Segoe UI"/>
              </a:rPr>
              <a:t>The obvious fix — using a smaller, faster model — sacrifices answer quality. We want the big model's quality at closer to the small model's speed.</a:t>
            </a:r>
          </a:p>
          <a:p>
            <a:pPr>
              <a:spcAft>
                <a:spcPts val="1200"/>
              </a:spcAft>
            </a:pPr>
            <a:r>
              <a:rPr sz="1900" b="1">
                <a:solidFill>
                  <a:srgbClr val="3B82F6"/>
                </a:solidFill>
              </a:rPr>
              <a:t>•  </a:t>
            </a:r>
            <a:r>
              <a:rPr sz="1900">
                <a:solidFill>
                  <a:srgbClr val="111827"/>
                </a:solidFill>
                <a:latin typeface="Segoe UI"/>
              </a:rPr>
              <a:t>Question this project asks: can a small 0.5B "draft" model guess ahead, and have the big 7B model just check the guesses, instead of writing every word itself?</a:t>
            </a:r>
          </a:p>
        </p:txBody>
      </p:sp>
      <p:sp>
        <p:nvSpPr>
          <p:cNvPr id="6" name="TextBox 5"/>
          <p:cNvSpPr txBox="1"/>
          <p:nvPr/>
        </p:nvSpPr>
        <p:spPr>
          <a:xfrm>
            <a:off x="11247120" y="6446520"/>
            <a:ext cx="822960" cy="320040"/>
          </a:xfrm>
          <a:prstGeom prst="rect">
            <a:avLst/>
          </a:prstGeom>
          <a:noFill/>
        </p:spPr>
        <p:txBody>
          <a:bodyPr wrap="square">
            <a:spAutoFit/>
          </a:bodyPr>
          <a:lstStyle/>
          <a:p>
            <a:pPr algn="r">
              <a:spcAft>
                <a:spcPts val="800"/>
              </a:spcAft>
            </a:pPr>
            <a:r>
              <a:rPr sz="1100" b="0" i="0">
                <a:solidFill>
                  <a:srgbClr val="6B7280"/>
                </a:solidFill>
                <a:latin typeface="Segoe UI"/>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spAutoFit/>
          </a:bodyPr>
          <a:lstStyle/>
          <a:p>
            <a:pPr algn="l">
              <a:spcAft>
                <a:spcPts val="800"/>
              </a:spcAft>
            </a:pPr>
            <a:r>
              <a:rPr sz="1300" b="1" i="0">
                <a:solidFill>
                  <a:srgbClr val="22C55E"/>
                </a:solidFill>
                <a:latin typeface="Segoe UI"/>
              </a:rPr>
              <a:t>THE IDEA</a:t>
            </a:r>
          </a:p>
        </p:txBody>
      </p:sp>
      <p:sp>
        <p:nvSpPr>
          <p:cNvPr id="3" name="TextBox 2"/>
          <p:cNvSpPr txBox="1"/>
          <p:nvPr/>
        </p:nvSpPr>
        <p:spPr>
          <a:xfrm>
            <a:off x="548640" y="658368"/>
            <a:ext cx="11064240" cy="822960"/>
          </a:xfrm>
          <a:prstGeom prst="rect">
            <a:avLst/>
          </a:prstGeom>
          <a:noFill/>
        </p:spPr>
        <p:txBody>
          <a:bodyPr wrap="square">
            <a:spAutoFit/>
          </a:bodyPr>
          <a:lstStyle/>
          <a:p>
            <a:pPr algn="l">
              <a:spcAft>
                <a:spcPts val="800"/>
              </a:spcAft>
            </a:pPr>
            <a:r>
              <a:rPr sz="3000" b="1" i="0">
                <a:solidFill>
                  <a:srgbClr val="111827"/>
                </a:solidFill>
                <a:latin typeface="Segoe UI"/>
              </a:rPr>
              <a:t>Speculative decoding, in one sentence</a:t>
            </a:r>
          </a:p>
        </p:txBody>
      </p:sp>
      <p:sp>
        <p:nvSpPr>
          <p:cNvPr id="4" name="Rectangle 3"/>
          <p:cNvSpPr/>
          <p:nvPr/>
        </p:nvSpPr>
        <p:spPr>
          <a:xfrm>
            <a:off x="548640" y="1417320"/>
            <a:ext cx="11064240" cy="279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0"/>
            <a:ext cx="10698480" cy="1188720"/>
          </a:xfrm>
          <a:prstGeom prst="rect">
            <a:avLst/>
          </a:prstGeom>
          <a:noFill/>
        </p:spPr>
        <p:txBody>
          <a:bodyPr wrap="square">
            <a:spAutoFit/>
          </a:bodyPr>
          <a:lstStyle/>
          <a:p>
            <a:pPr algn="l">
              <a:spcAft>
                <a:spcPts val="800"/>
              </a:spcAft>
            </a:pPr>
            <a:r>
              <a:rPr sz="2200" b="1" i="0">
                <a:solidFill>
                  <a:srgbClr val="111827"/>
                </a:solidFill>
                <a:latin typeface="Segoe UI"/>
              </a:rPr>
              <a:t>A small, fast model guesses the next few words. The big, accurate model checks all those guesses in one single pass, and keeps whichever ones it agrees with.</a:t>
            </a:r>
          </a:p>
        </p:txBody>
      </p:sp>
      <p:sp>
        <p:nvSpPr>
          <p:cNvPr id="6" name="TextBox 5"/>
          <p:cNvSpPr txBox="1"/>
          <p:nvPr/>
        </p:nvSpPr>
        <p:spPr>
          <a:xfrm>
            <a:off x="640080" y="3200400"/>
            <a:ext cx="10881360" cy="4754880"/>
          </a:xfrm>
          <a:prstGeom prst="rect">
            <a:avLst/>
          </a:prstGeom>
          <a:noFill/>
        </p:spPr>
        <p:txBody>
          <a:bodyPr wrap="square">
            <a:spAutoFit/>
          </a:bodyPr>
          <a:lstStyle/>
          <a:p>
            <a:pPr>
              <a:spcAft>
                <a:spcPts val="1200"/>
              </a:spcAft>
            </a:pPr>
            <a:r>
              <a:rPr sz="1800" b="1">
                <a:solidFill>
                  <a:srgbClr val="3B82F6"/>
                </a:solidFill>
              </a:rPr>
              <a:t>•  </a:t>
            </a:r>
            <a:r>
              <a:rPr sz="1800">
                <a:solidFill>
                  <a:srgbClr val="111827"/>
                </a:solidFill>
                <a:latin typeface="Segoe UI"/>
              </a:rPr>
              <a:t>Analogy: a junior writer drafts a paragraph quickly; a senior editor reads it once and approves the parts that are already correct — instead of writing every word themselves.</a:t>
            </a:r>
          </a:p>
          <a:p>
            <a:pPr>
              <a:spcAft>
                <a:spcPts val="1200"/>
              </a:spcAft>
            </a:pPr>
            <a:r>
              <a:rPr sz="1800" b="1">
                <a:solidFill>
                  <a:srgbClr val="3B82F6"/>
                </a:solidFill>
              </a:rPr>
              <a:t>•  </a:t>
            </a:r>
            <a:r>
              <a:rPr sz="1800">
                <a:solidFill>
                  <a:srgbClr val="111827"/>
                </a:solidFill>
                <a:latin typeface="Segoe UI"/>
              </a:rPr>
              <a:t>Because the big model has the final say on every single word, the output text is provably identical to what it would have written alone. Nothing about the quality changes — only how fast it arrives.</a:t>
            </a:r>
          </a:p>
          <a:p>
            <a:pPr>
              <a:spcAft>
                <a:spcPts val="1200"/>
              </a:spcAft>
            </a:pPr>
            <a:r>
              <a:rPr sz="1800" b="1">
                <a:solidFill>
                  <a:srgbClr val="3B82F6"/>
                </a:solidFill>
              </a:rPr>
              <a:t>•  </a:t>
            </a:r>
            <a:r>
              <a:rPr sz="1800">
                <a:solidFill>
                  <a:srgbClr val="111827"/>
                </a:solidFill>
                <a:latin typeface="Segoe UI"/>
              </a:rPr>
              <a:t>This technique is not new — it is published research (Leviathan et al. 2022, Chen et al. 2023). This project's contribution is measuring how well it actually works on ordinary consumer hardware, which nobody had done for this setup.</a:t>
            </a:r>
          </a:p>
        </p:txBody>
      </p:sp>
      <p:sp>
        <p:nvSpPr>
          <p:cNvPr id="7" name="TextBox 6"/>
          <p:cNvSpPr txBox="1"/>
          <p:nvPr/>
        </p:nvSpPr>
        <p:spPr>
          <a:xfrm>
            <a:off x="11247120" y="6446520"/>
            <a:ext cx="822960" cy="320040"/>
          </a:xfrm>
          <a:prstGeom prst="rect">
            <a:avLst/>
          </a:prstGeom>
          <a:noFill/>
        </p:spPr>
        <p:txBody>
          <a:bodyPr wrap="square">
            <a:spAutoFit/>
          </a:bodyPr>
          <a:lstStyle/>
          <a:p>
            <a:pPr algn="r">
              <a:spcAft>
                <a:spcPts val="800"/>
              </a:spcAft>
            </a:pPr>
            <a:r>
              <a:rPr sz="1100" b="0" i="0">
                <a:solidFill>
                  <a:srgbClr val="6B7280"/>
                </a:solidFill>
                <a:latin typeface="Segoe UI"/>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spAutoFit/>
          </a:bodyPr>
          <a:lstStyle/>
          <a:p>
            <a:pPr algn="l">
              <a:spcAft>
                <a:spcPts val="800"/>
              </a:spcAft>
            </a:pPr>
            <a:r>
              <a:rPr sz="1300" b="1" i="0">
                <a:solidFill>
                  <a:srgbClr val="3B82F6"/>
                </a:solidFill>
                <a:latin typeface="Segoe UI"/>
              </a:rPr>
              <a:t>HOW IT WORKS</a:t>
            </a:r>
          </a:p>
        </p:txBody>
      </p:sp>
      <p:sp>
        <p:nvSpPr>
          <p:cNvPr id="3" name="TextBox 2"/>
          <p:cNvSpPr txBox="1"/>
          <p:nvPr/>
        </p:nvSpPr>
        <p:spPr>
          <a:xfrm>
            <a:off x="548640" y="658368"/>
            <a:ext cx="11064240" cy="822960"/>
          </a:xfrm>
          <a:prstGeom prst="rect">
            <a:avLst/>
          </a:prstGeom>
          <a:noFill/>
        </p:spPr>
        <p:txBody>
          <a:bodyPr wrap="square">
            <a:spAutoFit/>
          </a:bodyPr>
          <a:lstStyle/>
          <a:p>
            <a:pPr algn="l">
              <a:spcAft>
                <a:spcPts val="800"/>
              </a:spcAft>
            </a:pPr>
            <a:r>
              <a:rPr sz="3000" b="1" i="0">
                <a:solidFill>
                  <a:srgbClr val="111827"/>
                </a:solidFill>
                <a:latin typeface="Segoe UI"/>
              </a:rPr>
              <a:t>One round of speculative decoding</a:t>
            </a:r>
          </a:p>
        </p:txBody>
      </p:sp>
      <p:sp>
        <p:nvSpPr>
          <p:cNvPr id="4" name="Rectangle 3"/>
          <p:cNvSpPr/>
          <p:nvPr/>
        </p:nvSpPr>
        <p:spPr>
          <a:xfrm>
            <a:off x="548640" y="1417320"/>
            <a:ext cx="11064240" cy="279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920240"/>
            <a:ext cx="3566160" cy="3931920"/>
          </a:xfrm>
          <a:prstGeom prst="rect">
            <a:avLst/>
          </a:prstGeom>
          <a:solidFill>
            <a:srgbClr val="F9FAF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r>
              <a:rPr sz="4000" b="1">
                <a:solidFill>
                  <a:srgbClr val="3B82F6"/>
                </a:solidFill>
              </a:rPr>
              <a:t>1</a:t>
            </a:r>
          </a:p>
          <a:p>
            <a:pPr algn="ctr"/>
            <a:r>
              <a:rPr sz="2000" b="1">
                <a:solidFill>
                  <a:srgbClr val="111827"/>
                </a:solidFill>
              </a:rPr>
              <a:t>Draft guesses</a:t>
            </a:r>
          </a:p>
          <a:p>
            <a:r>
              <a:rPr sz="1400">
                <a:solidFill>
                  <a:srgbClr val="374151"/>
                </a:solidFill>
              </a:rPr>
              <a:t>The small 0.5B model quickly proposes the next few tokens (words/word-pieces).</a:t>
            </a:r>
          </a:p>
        </p:txBody>
      </p:sp>
      <p:sp>
        <p:nvSpPr>
          <p:cNvPr id="6" name="Rectangle 5"/>
          <p:cNvSpPr/>
          <p:nvPr/>
        </p:nvSpPr>
        <p:spPr>
          <a:xfrm>
            <a:off x="4389120" y="1920240"/>
            <a:ext cx="3566160" cy="3931920"/>
          </a:xfrm>
          <a:prstGeom prst="rect">
            <a:avLst/>
          </a:prstGeom>
          <a:solidFill>
            <a:srgbClr val="F9FAFB"/>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r>
              <a:rPr sz="4000" b="1">
                <a:solidFill>
                  <a:srgbClr val="22C55E"/>
                </a:solidFill>
              </a:rPr>
              <a:t>2</a:t>
            </a:r>
          </a:p>
          <a:p>
            <a:pPr algn="ctr"/>
            <a:r>
              <a:rPr sz="2000" b="1">
                <a:solidFill>
                  <a:srgbClr val="111827"/>
                </a:solidFill>
              </a:rPr>
              <a:t>Target verifies</a:t>
            </a:r>
          </a:p>
          <a:p>
            <a:r>
              <a:rPr sz="1400">
                <a:solidFill>
                  <a:srgbClr val="374151"/>
                </a:solidFill>
              </a:rPr>
              <a:t>The big 7B model checks all guesses at once, in a single forward pass.</a:t>
            </a:r>
          </a:p>
        </p:txBody>
      </p:sp>
      <p:sp>
        <p:nvSpPr>
          <p:cNvPr id="7" name="Rectangle 6"/>
          <p:cNvSpPr/>
          <p:nvPr/>
        </p:nvSpPr>
        <p:spPr>
          <a:xfrm>
            <a:off x="8138159" y="1920240"/>
            <a:ext cx="3566160" cy="3931920"/>
          </a:xfrm>
          <a:prstGeom prst="rect">
            <a:avLst/>
          </a:prstGeom>
          <a:solidFill>
            <a:srgbClr val="F9FAF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74320"/>
          <a:lstStyle/>
          <a:p>
            <a:pPr algn="ctr"/>
            <a:r>
              <a:rPr sz="4000" b="1">
                <a:solidFill>
                  <a:srgbClr val="F59E0B"/>
                </a:solidFill>
              </a:rPr>
              <a:t>3</a:t>
            </a:r>
          </a:p>
          <a:p>
            <a:pPr algn="ctr"/>
            <a:r>
              <a:rPr sz="2000" b="1">
                <a:solidFill>
                  <a:srgbClr val="111827"/>
                </a:solidFill>
              </a:rPr>
              <a:t>Keep or correct</a:t>
            </a:r>
          </a:p>
          <a:p>
            <a:r>
              <a:rPr sz="1400">
                <a:solidFill>
                  <a:srgbClr val="374151"/>
                </a:solidFill>
              </a:rPr>
              <a:t>Correct guesses are kept; the first wrong one is replaced with the big model's own choice, and a bonus token is sometimes free.</a:t>
            </a:r>
          </a:p>
        </p:txBody>
      </p:sp>
      <p:sp>
        <p:nvSpPr>
          <p:cNvPr id="8" name="TextBox 7"/>
          <p:cNvSpPr txBox="1"/>
          <p:nvPr/>
        </p:nvSpPr>
        <p:spPr>
          <a:xfrm>
            <a:off x="640080" y="5989320"/>
            <a:ext cx="10881360" cy="640080"/>
          </a:xfrm>
          <a:prstGeom prst="rect">
            <a:avLst/>
          </a:prstGeom>
          <a:noFill/>
        </p:spPr>
        <p:txBody>
          <a:bodyPr wrap="square">
            <a:spAutoFit/>
          </a:bodyPr>
          <a:lstStyle/>
          <a:p>
            <a:pPr algn="l">
              <a:spcAft>
                <a:spcPts val="800"/>
              </a:spcAft>
            </a:pPr>
            <a:r>
              <a:rPr sz="1400" b="0" i="1">
                <a:solidFill>
                  <a:srgbClr val="6B7280"/>
                </a:solidFill>
                <a:latin typeface="Segoe UI"/>
              </a:rPr>
              <a:t>Result: one pass of the big model can produce several words instead of just one -- when guesses are good.</a:t>
            </a:r>
          </a:p>
        </p:txBody>
      </p:sp>
      <p:sp>
        <p:nvSpPr>
          <p:cNvPr id="9" name="TextBox 8"/>
          <p:cNvSpPr txBox="1"/>
          <p:nvPr/>
        </p:nvSpPr>
        <p:spPr>
          <a:xfrm>
            <a:off x="11247120" y="6446520"/>
            <a:ext cx="822960" cy="320040"/>
          </a:xfrm>
          <a:prstGeom prst="rect">
            <a:avLst/>
          </a:prstGeom>
          <a:noFill/>
        </p:spPr>
        <p:txBody>
          <a:bodyPr wrap="square">
            <a:spAutoFit/>
          </a:bodyPr>
          <a:lstStyle/>
          <a:p>
            <a:pPr algn="r">
              <a:spcAft>
                <a:spcPts val="800"/>
              </a:spcAft>
            </a:pPr>
            <a:r>
              <a:rPr sz="1100" b="0" i="0">
                <a:solidFill>
                  <a:srgbClr val="6B7280"/>
                </a:solidFill>
                <a:latin typeface="Segoe UI"/>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spAutoFit/>
          </a:bodyPr>
          <a:lstStyle/>
          <a:p>
            <a:pPr algn="l">
              <a:spcAft>
                <a:spcPts val="800"/>
              </a:spcAft>
            </a:pPr>
            <a:r>
              <a:rPr sz="1300" b="1" i="0">
                <a:solidFill>
                  <a:srgbClr val="22C55E"/>
                </a:solidFill>
                <a:latin typeface="Segoe UI"/>
              </a:rPr>
              <a:t>CORRECTNESS GUARANTEE</a:t>
            </a:r>
          </a:p>
        </p:txBody>
      </p:sp>
      <p:sp>
        <p:nvSpPr>
          <p:cNvPr id="3" name="TextBox 2"/>
          <p:cNvSpPr txBox="1"/>
          <p:nvPr/>
        </p:nvSpPr>
        <p:spPr>
          <a:xfrm>
            <a:off x="548640" y="658368"/>
            <a:ext cx="11064240" cy="822960"/>
          </a:xfrm>
          <a:prstGeom prst="rect">
            <a:avLst/>
          </a:prstGeom>
          <a:noFill/>
        </p:spPr>
        <p:txBody>
          <a:bodyPr wrap="square">
            <a:spAutoFit/>
          </a:bodyPr>
          <a:lstStyle/>
          <a:p>
            <a:pPr algn="l">
              <a:spcAft>
                <a:spcPts val="800"/>
              </a:spcAft>
            </a:pPr>
            <a:r>
              <a:rPr sz="3000" b="1" i="0">
                <a:solidFill>
                  <a:srgbClr val="111827"/>
                </a:solidFill>
                <a:latin typeface="Segoe UI"/>
              </a:rPr>
              <a:t>Why the output text never changes</a:t>
            </a:r>
          </a:p>
        </p:txBody>
      </p:sp>
      <p:sp>
        <p:nvSpPr>
          <p:cNvPr id="4" name="Rectangle 3"/>
          <p:cNvSpPr/>
          <p:nvPr/>
        </p:nvSpPr>
        <p:spPr>
          <a:xfrm>
            <a:off x="548640" y="1417320"/>
            <a:ext cx="11064240" cy="279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1200"/>
              </a:spcAft>
            </a:pPr>
            <a:r>
              <a:rPr sz="1900" b="1">
                <a:solidFill>
                  <a:srgbClr val="3B82F6"/>
                </a:solidFill>
              </a:rPr>
              <a:t>•  </a:t>
            </a:r>
            <a:r>
              <a:rPr sz="1900">
                <a:solidFill>
                  <a:srgbClr val="111827"/>
                </a:solidFill>
                <a:latin typeface="Segoe UI"/>
              </a:rPr>
              <a:t>The big model ("target") independently computes its own top choice at every position during verification -- exactly as if it had generated that word alone.</a:t>
            </a:r>
          </a:p>
          <a:p>
            <a:pPr>
              <a:spcAft>
                <a:spcPts val="1200"/>
              </a:spcAft>
            </a:pPr>
            <a:r>
              <a:rPr sz="1900" b="1">
                <a:solidFill>
                  <a:srgbClr val="3B82F6"/>
                </a:solidFill>
              </a:rPr>
              <a:t>•  </a:t>
            </a:r>
            <a:r>
              <a:rPr sz="1900">
                <a:solidFill>
                  <a:srgbClr val="111827"/>
                </a:solidFill>
                <a:latin typeface="Segoe UI"/>
              </a:rPr>
              <a:t>A guessed word is accepted ONLY if it exactly matches what the target would have picked anyway. So every kept word is one the target model chose itself.</a:t>
            </a:r>
          </a:p>
          <a:p>
            <a:pPr>
              <a:spcAft>
                <a:spcPts val="1200"/>
              </a:spcAft>
            </a:pPr>
            <a:r>
              <a:rPr sz="1900" b="1">
                <a:solidFill>
                  <a:srgbClr val="3B82F6"/>
                </a:solidFill>
              </a:rPr>
              <a:t>•  </a:t>
            </a:r>
            <a:r>
              <a:rPr sz="1900">
                <a:solidFill>
                  <a:srgbClr val="111827"/>
                </a:solidFill>
                <a:latin typeface="Segoe UI"/>
              </a:rPr>
              <a:t>At the first disagreement, the guess is discarded and the target's own word is used instead -- the rest of that round's guesses are thrown away, unseen.</a:t>
            </a:r>
          </a:p>
          <a:p>
            <a:pPr>
              <a:spcAft>
                <a:spcPts val="1200"/>
              </a:spcAft>
            </a:pPr>
            <a:r>
              <a:rPr sz="1900" b="1">
                <a:solidFill>
                  <a:srgbClr val="3B82F6"/>
                </a:solidFill>
              </a:rPr>
              <a:t>•  </a:t>
            </a:r>
            <a:r>
              <a:rPr sz="1900">
                <a:solidFill>
                  <a:srgbClr val="111827"/>
                </a:solidFill>
                <a:latin typeface="Segoe UI"/>
              </a:rPr>
              <a:t>This means the small draft model never decides WHAT is said -- only HOW MANY words can be produced per expensive pass. Quality and behaviour are untouched.</a:t>
            </a:r>
          </a:p>
        </p:txBody>
      </p:sp>
      <p:sp>
        <p:nvSpPr>
          <p:cNvPr id="6" name="TextBox 5"/>
          <p:cNvSpPr txBox="1"/>
          <p:nvPr/>
        </p:nvSpPr>
        <p:spPr>
          <a:xfrm>
            <a:off x="11247120" y="6446520"/>
            <a:ext cx="822960" cy="320040"/>
          </a:xfrm>
          <a:prstGeom prst="rect">
            <a:avLst/>
          </a:prstGeom>
          <a:noFill/>
        </p:spPr>
        <p:txBody>
          <a:bodyPr wrap="square">
            <a:spAutoFit/>
          </a:bodyPr>
          <a:lstStyle/>
          <a:p>
            <a:pPr algn="r">
              <a:spcAft>
                <a:spcPts val="800"/>
              </a:spcAft>
            </a:pPr>
            <a:r>
              <a:rPr sz="1100" b="0" i="0">
                <a:solidFill>
                  <a:srgbClr val="6B7280"/>
                </a:solidFill>
                <a:latin typeface="Segoe UI"/>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spAutoFit/>
          </a:bodyPr>
          <a:lstStyle/>
          <a:p>
            <a:pPr algn="l">
              <a:spcAft>
                <a:spcPts val="800"/>
              </a:spcAft>
            </a:pPr>
            <a:r>
              <a:rPr sz="1300" b="1" i="0">
                <a:solidFill>
                  <a:srgbClr val="3B82F6"/>
                </a:solidFill>
                <a:latin typeface="Segoe UI"/>
              </a:rPr>
              <a:t>TEST SETUP</a:t>
            </a:r>
          </a:p>
        </p:txBody>
      </p:sp>
      <p:sp>
        <p:nvSpPr>
          <p:cNvPr id="3" name="TextBox 2"/>
          <p:cNvSpPr txBox="1"/>
          <p:nvPr/>
        </p:nvSpPr>
        <p:spPr>
          <a:xfrm>
            <a:off x="548640" y="658368"/>
            <a:ext cx="11064240" cy="822960"/>
          </a:xfrm>
          <a:prstGeom prst="rect">
            <a:avLst/>
          </a:prstGeom>
          <a:noFill/>
        </p:spPr>
        <p:txBody>
          <a:bodyPr wrap="square">
            <a:spAutoFit/>
          </a:bodyPr>
          <a:lstStyle/>
          <a:p>
            <a:pPr algn="l">
              <a:spcAft>
                <a:spcPts val="800"/>
              </a:spcAft>
            </a:pPr>
            <a:r>
              <a:rPr sz="3000" b="1" i="0">
                <a:solidFill>
                  <a:srgbClr val="111827"/>
                </a:solidFill>
                <a:latin typeface="Segoe UI"/>
              </a:rPr>
              <a:t>How this was measured</a:t>
            </a:r>
          </a:p>
        </p:txBody>
      </p:sp>
      <p:sp>
        <p:nvSpPr>
          <p:cNvPr id="4" name="Rectangle 3"/>
          <p:cNvSpPr/>
          <p:nvPr/>
        </p:nvSpPr>
        <p:spPr>
          <a:xfrm>
            <a:off x="548640" y="1417320"/>
            <a:ext cx="11064240" cy="279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1200"/>
              </a:spcAft>
            </a:pPr>
            <a:r>
              <a:rPr sz="1800" b="1">
                <a:solidFill>
                  <a:srgbClr val="3B82F6"/>
                </a:solidFill>
              </a:rPr>
              <a:t>•  </a:t>
            </a:r>
            <a:r>
              <a:rPr sz="1800">
                <a:solidFill>
                  <a:srgbClr val="111827"/>
                </a:solidFill>
                <a:latin typeface="Segoe UI"/>
              </a:rPr>
              <a:t>Hardware: one consumer NVIDIA RTX 3060 (12 GB), an ordinary gaming GPU -- not a data-center card.</a:t>
            </a:r>
          </a:p>
          <a:p>
            <a:pPr>
              <a:spcAft>
                <a:spcPts val="1200"/>
              </a:spcAft>
            </a:pPr>
            <a:r>
              <a:rPr sz="1800" b="1">
                <a:solidFill>
                  <a:srgbClr val="3B82F6"/>
                </a:solidFill>
              </a:rPr>
              <a:t>•  </a:t>
            </a:r>
            <a:r>
              <a:rPr sz="1800">
                <a:solidFill>
                  <a:srgbClr val="111827"/>
                </a:solidFill>
                <a:latin typeface="Segoe UI"/>
              </a:rPr>
              <a:t>Target (big) model: Qwen2.5-Coder-7B-Instruct, compressed to 4-bit precision.</a:t>
            </a:r>
          </a:p>
          <a:p>
            <a:pPr>
              <a:spcAft>
                <a:spcPts val="1200"/>
              </a:spcAft>
            </a:pPr>
            <a:r>
              <a:rPr sz="1800" b="1">
                <a:solidFill>
                  <a:srgbClr val="3B82F6"/>
                </a:solidFill>
              </a:rPr>
              <a:t>•  </a:t>
            </a:r>
            <a:r>
              <a:rPr sz="1800">
                <a:solidFill>
                  <a:srgbClr val="111827"/>
                </a:solidFill>
                <a:latin typeface="Segoe UI"/>
              </a:rPr>
              <a:t>Draft (small) model: Qwen2.5-Coder-0.5B-Instruct, running at normal precision.</a:t>
            </a:r>
          </a:p>
          <a:p>
            <a:pPr>
              <a:spcAft>
                <a:spcPts val="1200"/>
              </a:spcAft>
            </a:pPr>
            <a:r>
              <a:rPr sz="1800" b="1">
                <a:solidFill>
                  <a:srgbClr val="3B82F6"/>
                </a:solidFill>
              </a:rPr>
              <a:t>•  </a:t>
            </a:r>
            <a:r>
              <a:rPr sz="1800">
                <a:solidFill>
                  <a:srgbClr val="111827"/>
                </a:solidFill>
                <a:latin typeface="Segoe UI"/>
              </a:rPr>
              <a:t>Both models share the exact same vocabulary, which is required for the guess-and-check comparison to make sense.</a:t>
            </a:r>
          </a:p>
          <a:p>
            <a:pPr>
              <a:spcAft>
                <a:spcPts val="1200"/>
              </a:spcAft>
            </a:pPr>
            <a:r>
              <a:rPr sz="1800" b="1">
                <a:solidFill>
                  <a:srgbClr val="3B82F6"/>
                </a:solidFill>
              </a:rPr>
              <a:t>•  </a:t>
            </a:r>
            <a:r>
              <a:rPr sz="1800">
                <a:solidFill>
                  <a:srgbClr val="111827"/>
                </a:solidFill>
                <a:latin typeface="Segoe UI"/>
              </a:rPr>
              <a:t>Test set: 210 prompts, hand-checked, split evenly across six real-world categories: structured data, code, math, reasoning, prose writing, and translation.</a:t>
            </a:r>
          </a:p>
        </p:txBody>
      </p:sp>
      <p:sp>
        <p:nvSpPr>
          <p:cNvPr id="6" name="TextBox 5"/>
          <p:cNvSpPr txBox="1"/>
          <p:nvPr/>
        </p:nvSpPr>
        <p:spPr>
          <a:xfrm>
            <a:off x="11247120" y="6446520"/>
            <a:ext cx="822960" cy="320040"/>
          </a:xfrm>
          <a:prstGeom prst="rect">
            <a:avLst/>
          </a:prstGeom>
          <a:noFill/>
        </p:spPr>
        <p:txBody>
          <a:bodyPr wrap="square">
            <a:spAutoFit/>
          </a:bodyPr>
          <a:lstStyle/>
          <a:p>
            <a:pPr algn="r">
              <a:spcAft>
                <a:spcPts val="800"/>
              </a:spcAft>
            </a:pPr>
            <a:r>
              <a:rPr sz="1100" b="0" i="0">
                <a:solidFill>
                  <a:srgbClr val="6B7280"/>
                </a:solidFill>
                <a:latin typeface="Segoe UI"/>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spAutoFit/>
          </a:bodyPr>
          <a:lstStyle/>
          <a:p>
            <a:pPr algn="l">
              <a:spcAft>
                <a:spcPts val="800"/>
              </a:spcAft>
            </a:pPr>
            <a:r>
              <a:rPr sz="1300" b="1" i="0">
                <a:solidFill>
                  <a:srgbClr val="22C55E"/>
                </a:solidFill>
                <a:latin typeface="Segoe UI"/>
              </a:rPr>
              <a:t>PROOF IT WORKS</a:t>
            </a:r>
          </a:p>
        </p:txBody>
      </p:sp>
      <p:sp>
        <p:nvSpPr>
          <p:cNvPr id="3" name="TextBox 2"/>
          <p:cNvSpPr txBox="1"/>
          <p:nvPr/>
        </p:nvSpPr>
        <p:spPr>
          <a:xfrm>
            <a:off x="548640" y="658368"/>
            <a:ext cx="11064240" cy="822960"/>
          </a:xfrm>
          <a:prstGeom prst="rect">
            <a:avLst/>
          </a:prstGeom>
          <a:noFill/>
        </p:spPr>
        <p:txBody>
          <a:bodyPr wrap="square">
            <a:spAutoFit/>
          </a:bodyPr>
          <a:lstStyle/>
          <a:p>
            <a:pPr algn="l">
              <a:spcAft>
                <a:spcPts val="800"/>
              </a:spcAft>
            </a:pPr>
            <a:r>
              <a:rPr sz="3000" b="1" i="0">
                <a:solidFill>
                  <a:srgbClr val="111827"/>
                </a:solidFill>
                <a:latin typeface="Segoe UI"/>
              </a:rPr>
              <a:t>Test cases that verify correctness</a:t>
            </a:r>
          </a:p>
        </p:txBody>
      </p:sp>
      <p:sp>
        <p:nvSpPr>
          <p:cNvPr id="4" name="Rectangle 3"/>
          <p:cNvSpPr/>
          <p:nvPr/>
        </p:nvSpPr>
        <p:spPr>
          <a:xfrm>
            <a:off x="548640" y="1417320"/>
            <a:ext cx="11064240" cy="279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1200"/>
              </a:spcAft>
            </a:pPr>
            <a:r>
              <a:rPr sz="1700" b="1">
                <a:solidFill>
                  <a:srgbClr val="3B82F6"/>
                </a:solidFill>
              </a:rPr>
              <a:t>•  </a:t>
            </a:r>
            <a:r>
              <a:rPr sz="1700">
                <a:solidFill>
                  <a:srgbClr val="111827"/>
                </a:solidFill>
                <a:latin typeface="Segoe UI"/>
              </a:rPr>
              <a:t>2,520 total timed runs across two execution modes were checked byte-by-byte against plain, unmodified generation from the big model alone.</a:t>
            </a:r>
          </a:p>
          <a:p>
            <a:pPr>
              <a:spcAft>
                <a:spcPts val="1200"/>
              </a:spcAft>
            </a:pPr>
            <a:r>
              <a:rPr sz="1700" b="1">
                <a:solidFill>
                  <a:srgbClr val="3B82F6"/>
                </a:solidFill>
              </a:rPr>
              <a:t>•  </a:t>
            </a:r>
            <a:r>
              <a:rPr sz="1700">
                <a:solidFill>
                  <a:srgbClr val="111827"/>
                </a:solidFill>
                <a:latin typeface="Segoe UI"/>
              </a:rPr>
              <a:t>96.7% - 96.8% of all runs produced text IDENTICAL down to the exact character.</a:t>
            </a:r>
          </a:p>
          <a:p>
            <a:pPr>
              <a:spcAft>
                <a:spcPts val="1200"/>
              </a:spcAft>
            </a:pPr>
            <a:r>
              <a:rPr sz="1700" b="1">
                <a:solidFill>
                  <a:srgbClr val="3B82F6"/>
                </a:solidFill>
              </a:rPr>
              <a:t>•  </a:t>
            </a:r>
            <a:r>
              <a:rPr sz="1700">
                <a:solidFill>
                  <a:srgbClr val="111827"/>
                </a:solidFill>
                <a:latin typeface="Segoe UI"/>
              </a:rPr>
              <a:t>Every one of the small number of differences was individually re-examined. Every single one occurred exactly where the big model's top two possible words were tied in floating-point precision -- meaning even plain, ordinary generation would be ambiguous there too.</a:t>
            </a:r>
          </a:p>
          <a:p>
            <a:pPr>
              <a:spcAft>
                <a:spcPts val="1200"/>
              </a:spcAft>
            </a:pPr>
            <a:r>
              <a:rPr sz="1700" b="1">
                <a:solidFill>
                  <a:srgbClr val="3B82F6"/>
                </a:solidFill>
              </a:rPr>
              <a:t>•  </a:t>
            </a:r>
            <a:r>
              <a:rPr sz="1700">
                <a:solidFill>
                  <a:srgbClr val="111827"/>
                </a:solidFill>
                <a:latin typeface="Segoe UI"/>
              </a:rPr>
              <a:t>Zero decoder bugs were found. This was checked mathematically (ULP-level floating point analysis), not just by eye.</a:t>
            </a:r>
          </a:p>
          <a:p>
            <a:pPr>
              <a:spcAft>
                <a:spcPts val="1200"/>
              </a:spcAft>
            </a:pPr>
            <a:r>
              <a:rPr sz="1700" b="1">
                <a:solidFill>
                  <a:srgbClr val="3B82F6"/>
                </a:solidFill>
              </a:rPr>
              <a:t>•  </a:t>
            </a:r>
            <a:r>
              <a:rPr sz="1700">
                <a:solidFill>
                  <a:srgbClr val="111827"/>
                </a:solidFill>
                <a:latin typeface="Segoe UI"/>
              </a:rPr>
              <a:t>An automated pytest suite of 85 tests also passes, covering cache handling, the decoding logic, and the adaptive controller.</a:t>
            </a:r>
          </a:p>
        </p:txBody>
      </p:sp>
      <p:sp>
        <p:nvSpPr>
          <p:cNvPr id="6" name="TextBox 5"/>
          <p:cNvSpPr txBox="1"/>
          <p:nvPr/>
        </p:nvSpPr>
        <p:spPr>
          <a:xfrm>
            <a:off x="11247120" y="6446520"/>
            <a:ext cx="822960" cy="320040"/>
          </a:xfrm>
          <a:prstGeom prst="rect">
            <a:avLst/>
          </a:prstGeom>
          <a:noFill/>
        </p:spPr>
        <p:txBody>
          <a:bodyPr wrap="square">
            <a:spAutoFit/>
          </a:bodyPr>
          <a:lstStyle/>
          <a:p>
            <a:pPr algn="r">
              <a:spcAft>
                <a:spcPts val="800"/>
              </a:spcAft>
            </a:pPr>
            <a:r>
              <a:rPr sz="1100" b="0" i="0">
                <a:solidFill>
                  <a:srgbClr val="6B7280"/>
                </a:solidFill>
                <a:latin typeface="Segoe UI"/>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spAutoFit/>
          </a:bodyPr>
          <a:lstStyle/>
          <a:p>
            <a:pPr algn="l">
              <a:spcAft>
                <a:spcPts val="800"/>
              </a:spcAft>
            </a:pPr>
            <a:r>
              <a:rPr sz="1300" b="1" i="0">
                <a:solidFill>
                  <a:srgbClr val="F59E0B"/>
                </a:solidFill>
                <a:latin typeface="Segoe UI"/>
              </a:rPr>
              <a:t>RESULTS</a:t>
            </a:r>
          </a:p>
        </p:txBody>
      </p:sp>
      <p:sp>
        <p:nvSpPr>
          <p:cNvPr id="3" name="TextBox 2"/>
          <p:cNvSpPr txBox="1"/>
          <p:nvPr/>
        </p:nvSpPr>
        <p:spPr>
          <a:xfrm>
            <a:off x="548640" y="658368"/>
            <a:ext cx="11064240" cy="822960"/>
          </a:xfrm>
          <a:prstGeom prst="rect">
            <a:avLst/>
          </a:prstGeom>
          <a:noFill/>
        </p:spPr>
        <p:txBody>
          <a:bodyPr wrap="square">
            <a:spAutoFit/>
          </a:bodyPr>
          <a:lstStyle/>
          <a:p>
            <a:pPr algn="l">
              <a:spcAft>
                <a:spcPts val="800"/>
              </a:spcAft>
            </a:pPr>
            <a:r>
              <a:rPr sz="3000" b="1" i="0">
                <a:solidFill>
                  <a:srgbClr val="111827"/>
                </a:solidFill>
                <a:latin typeface="Segoe UI"/>
              </a:rPr>
              <a:t>How much faster did it get?</a:t>
            </a:r>
          </a:p>
        </p:txBody>
      </p:sp>
      <p:sp>
        <p:nvSpPr>
          <p:cNvPr id="4" name="Rectangle 3"/>
          <p:cNvSpPr/>
          <p:nvPr/>
        </p:nvSpPr>
        <p:spPr>
          <a:xfrm>
            <a:off x="548640" y="1417320"/>
            <a:ext cx="11064240" cy="279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828800"/>
            <a:ext cx="2606040" cy="1554480"/>
          </a:xfrm>
          <a:prstGeom prst="rect">
            <a:avLst/>
          </a:prstGeom>
          <a:solidFill>
            <a:srgbClr val="F3F4F6"/>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3B82F6"/>
                </a:solidFill>
              </a:rPr>
              <a:t>1.85x</a:t>
            </a:r>
          </a:p>
          <a:p>
            <a:pPr algn="ctr"/>
            <a:r>
              <a:rPr sz="1200">
                <a:solidFill>
                  <a:srgbClr val="6B7280"/>
                </a:solidFill>
              </a:rPr>
              <a:t>faster from CUDA graphs alone
(no guessing involved)</a:t>
            </a:r>
          </a:p>
        </p:txBody>
      </p:sp>
      <p:sp>
        <p:nvSpPr>
          <p:cNvPr id="6" name="Rectangle 5"/>
          <p:cNvSpPr/>
          <p:nvPr/>
        </p:nvSpPr>
        <p:spPr>
          <a:xfrm>
            <a:off x="3429000" y="1828800"/>
            <a:ext cx="2606040" cy="1554480"/>
          </a:xfrm>
          <a:prstGeom prst="rect">
            <a:avLst/>
          </a:prstGeom>
          <a:solidFill>
            <a:srgbClr val="F3F4F6"/>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2C55E"/>
                </a:solidFill>
              </a:rPr>
              <a:t>2.69x</a:t>
            </a:r>
          </a:p>
          <a:p>
            <a:pPr algn="ctr"/>
            <a:r>
              <a:rPr sz="1200">
                <a:solidFill>
                  <a:srgbClr val="6B7280"/>
                </a:solidFill>
              </a:rPr>
              <a:t>best total speedup
(math prompts)</a:t>
            </a:r>
          </a:p>
        </p:txBody>
      </p:sp>
      <p:sp>
        <p:nvSpPr>
          <p:cNvPr id="7" name="Rectangle 6"/>
          <p:cNvSpPr/>
          <p:nvPr/>
        </p:nvSpPr>
        <p:spPr>
          <a:xfrm>
            <a:off x="6217920" y="1828800"/>
            <a:ext cx="2606040" cy="1554480"/>
          </a:xfrm>
          <a:prstGeom prst="rect">
            <a:avLst/>
          </a:prstGeom>
          <a:solidFill>
            <a:srgbClr val="F3F4F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F59E0B"/>
                </a:solidFill>
              </a:rPr>
              <a:t>96.7%</a:t>
            </a:r>
          </a:p>
          <a:p>
            <a:pPr algn="ctr"/>
            <a:r>
              <a:rPr sz="1200">
                <a:solidFill>
                  <a:srgbClr val="6B7280"/>
                </a:solidFill>
              </a:rPr>
              <a:t>of runs byte-identical
to the original</a:t>
            </a:r>
          </a:p>
        </p:txBody>
      </p:sp>
      <p:sp>
        <p:nvSpPr>
          <p:cNvPr id="8" name="Rectangle 7"/>
          <p:cNvSpPr/>
          <p:nvPr/>
        </p:nvSpPr>
        <p:spPr>
          <a:xfrm>
            <a:off x="9006840" y="1828800"/>
            <a:ext cx="2606040" cy="1554480"/>
          </a:xfrm>
          <a:prstGeom prst="rect">
            <a:avLst/>
          </a:prstGeom>
          <a:solidFill>
            <a:srgbClr val="F3F4F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EF4444"/>
                </a:solidFill>
              </a:rPr>
              <a:t>0</a:t>
            </a:r>
          </a:p>
          <a:p>
            <a:pPr algn="ctr"/>
            <a:r>
              <a:rPr sz="1200">
                <a:solidFill>
                  <a:srgbClr val="6B7280"/>
                </a:solidFill>
              </a:rPr>
              <a:t>decoder bugs found</a:t>
            </a:r>
          </a:p>
        </p:txBody>
      </p:sp>
      <p:sp>
        <p:nvSpPr>
          <p:cNvPr id="9" name="TextBox 8"/>
          <p:cNvSpPr txBox="1"/>
          <p:nvPr/>
        </p:nvSpPr>
        <p:spPr>
          <a:xfrm>
            <a:off x="640080" y="3840480"/>
            <a:ext cx="10881360" cy="4754880"/>
          </a:xfrm>
          <a:prstGeom prst="rect">
            <a:avLst/>
          </a:prstGeom>
          <a:noFill/>
        </p:spPr>
        <p:txBody>
          <a:bodyPr wrap="square">
            <a:spAutoFit/>
          </a:bodyPr>
          <a:lstStyle/>
          <a:p>
            <a:pPr>
              <a:spcAft>
                <a:spcPts val="1200"/>
              </a:spcAft>
            </a:pPr>
            <a:r>
              <a:rPr sz="1700" b="1">
                <a:solidFill>
                  <a:srgbClr val="3B82F6"/>
                </a:solidFill>
              </a:rPr>
              <a:t>•  </a:t>
            </a:r>
            <a:r>
              <a:rPr sz="1700">
                <a:solidFill>
                  <a:srgbClr val="111827"/>
                </a:solidFill>
                <a:latin typeface="Segoe UI"/>
              </a:rPr>
              <a:t>The single biggest speed win on this hardware was NOT speculative guessing -- it was a low-level optimization ("CUDA graphs") that made even plain generation 1.85x faster.</a:t>
            </a:r>
          </a:p>
          <a:p>
            <a:pPr>
              <a:spcAft>
                <a:spcPts val="1200"/>
              </a:spcAft>
            </a:pPr>
            <a:r>
              <a:rPr sz="1700" b="1">
                <a:solidFill>
                  <a:srgbClr val="3B82F6"/>
                </a:solidFill>
              </a:rPr>
              <a:t>•  </a:t>
            </a:r>
            <a:r>
              <a:rPr sz="1700">
                <a:solidFill>
                  <a:srgbClr val="111827"/>
                </a:solidFill>
                <a:latin typeface="Segoe UI"/>
              </a:rPr>
              <a:t>Speculative guessing added a further, smaller boost on top of that -- but only for some kinds of prompts (math, code, structured data). It did not help, and sometimes slightly hurt, free-form writing and translation.</a:t>
            </a:r>
          </a:p>
        </p:txBody>
      </p:sp>
      <p:sp>
        <p:nvSpPr>
          <p:cNvPr id="10" name="TextBox 9"/>
          <p:cNvSpPr txBox="1"/>
          <p:nvPr/>
        </p:nvSpPr>
        <p:spPr>
          <a:xfrm>
            <a:off x="11247120" y="6446520"/>
            <a:ext cx="822960" cy="320040"/>
          </a:xfrm>
          <a:prstGeom prst="rect">
            <a:avLst/>
          </a:prstGeom>
          <a:noFill/>
        </p:spPr>
        <p:txBody>
          <a:bodyPr wrap="square">
            <a:spAutoFit/>
          </a:bodyPr>
          <a:lstStyle/>
          <a:p>
            <a:pPr algn="r">
              <a:spcAft>
                <a:spcPts val="800"/>
              </a:spcAft>
            </a:pPr>
            <a:r>
              <a:rPr sz="1100" b="0" i="0">
                <a:solidFill>
                  <a:srgbClr val="6B7280"/>
                </a:solidFill>
                <a:latin typeface="Segoe UI"/>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spAutoFit/>
          </a:bodyPr>
          <a:lstStyle/>
          <a:p>
            <a:pPr algn="l">
              <a:spcAft>
                <a:spcPts val="800"/>
              </a:spcAft>
            </a:pPr>
            <a:r>
              <a:rPr sz="1300" b="1" i="0">
                <a:solidFill>
                  <a:srgbClr val="F59E0B"/>
                </a:solidFill>
                <a:latin typeface="Segoe UI"/>
              </a:rPr>
              <a:t>KEY FINDING #1</a:t>
            </a:r>
          </a:p>
        </p:txBody>
      </p:sp>
      <p:sp>
        <p:nvSpPr>
          <p:cNvPr id="3" name="TextBox 2"/>
          <p:cNvSpPr txBox="1"/>
          <p:nvPr/>
        </p:nvSpPr>
        <p:spPr>
          <a:xfrm>
            <a:off x="548640" y="658368"/>
            <a:ext cx="11064240" cy="822960"/>
          </a:xfrm>
          <a:prstGeom prst="rect">
            <a:avLst/>
          </a:prstGeom>
          <a:noFill/>
        </p:spPr>
        <p:txBody>
          <a:bodyPr wrap="square">
            <a:spAutoFit/>
          </a:bodyPr>
          <a:lstStyle/>
          <a:p>
            <a:pPr algn="l">
              <a:spcAft>
                <a:spcPts val="800"/>
              </a:spcAft>
            </a:pPr>
            <a:r>
              <a:rPr sz="3000" b="1" i="0">
                <a:solidFill>
                  <a:srgbClr val="111827"/>
                </a:solidFill>
                <a:latin typeface="Segoe UI"/>
              </a:rPr>
              <a:t>The "crossover point"</a:t>
            </a:r>
          </a:p>
        </p:txBody>
      </p:sp>
      <p:sp>
        <p:nvSpPr>
          <p:cNvPr id="4" name="Rectangle 3"/>
          <p:cNvSpPr/>
          <p:nvPr/>
        </p:nvSpPr>
        <p:spPr>
          <a:xfrm>
            <a:off x="548640" y="1417320"/>
            <a:ext cx="11064240" cy="279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1200"/>
              </a:spcAft>
            </a:pPr>
            <a:r>
              <a:rPr sz="1700" b="1">
                <a:solidFill>
                  <a:srgbClr val="3B82F6"/>
                </a:solidFill>
              </a:rPr>
              <a:t>•  </a:t>
            </a:r>
            <a:r>
              <a:rPr sz="1700">
                <a:solidFill>
                  <a:srgbClr val="111827"/>
                </a:solidFill>
                <a:latin typeface="Segoe UI"/>
              </a:rPr>
              <a:t>Guessing more words per round is not always better. Each extra guess costs time whether it's right or wrong.</a:t>
            </a:r>
          </a:p>
          <a:p>
            <a:pPr>
              <a:spcAft>
                <a:spcPts val="1200"/>
              </a:spcAft>
            </a:pPr>
            <a:r>
              <a:rPr sz="1700" b="1">
                <a:solidFill>
                  <a:srgbClr val="3B82F6"/>
                </a:solidFill>
              </a:rPr>
              <a:t>•  </a:t>
            </a:r>
            <a:r>
              <a:rPr sz="1700">
                <a:solidFill>
                  <a:srgbClr val="111827"/>
                </a:solidFill>
                <a:latin typeface="Segoe UI"/>
              </a:rPr>
              <a:t>There is a point -- different for every type of prompt -- beyond which guessing MORE words per round actually makes generation SLOWER, not faster. This project calls that the crossover point.</a:t>
            </a:r>
          </a:p>
          <a:p>
            <a:pPr>
              <a:spcAft>
                <a:spcPts val="1200"/>
              </a:spcAft>
            </a:pPr>
            <a:r>
              <a:rPr sz="1700" b="1">
                <a:solidFill>
                  <a:srgbClr val="3B82F6"/>
                </a:solidFill>
              </a:rPr>
              <a:t>•  </a:t>
            </a:r>
            <a:r>
              <a:rPr sz="1700">
                <a:solidFill>
                  <a:srgbClr val="111827"/>
                </a:solidFill>
                <a:latin typeface="Segoe UI"/>
              </a:rPr>
              <a:t>Math, code and structured data can profitably guess many words ahead. Free prose and translation could not be sped up at all by guessing -- for those, plain generation was already the fastest option.</a:t>
            </a:r>
          </a:p>
          <a:p>
            <a:pPr>
              <a:spcAft>
                <a:spcPts val="1200"/>
              </a:spcAft>
            </a:pPr>
            <a:r>
              <a:rPr sz="1700" b="1">
                <a:solidFill>
                  <a:srgbClr val="3B82F6"/>
                </a:solidFill>
              </a:rPr>
              <a:t>•  </a:t>
            </a:r>
            <a:r>
              <a:rPr sz="1700">
                <a:solidFill>
                  <a:srgbClr val="111827"/>
                </a:solidFill>
                <a:latin typeface="Segoe UI"/>
              </a:rPr>
              <a:t>A surprising discovery: guessing exactly 3-4 words at once was consistently the WORST choice, across every category -- caused by a step-shaped cost curve in how the GPU verifies guesses, not a bug.</a:t>
            </a:r>
          </a:p>
        </p:txBody>
      </p:sp>
      <p:sp>
        <p:nvSpPr>
          <p:cNvPr id="6" name="TextBox 5"/>
          <p:cNvSpPr txBox="1"/>
          <p:nvPr/>
        </p:nvSpPr>
        <p:spPr>
          <a:xfrm>
            <a:off x="11247120" y="6446520"/>
            <a:ext cx="822960" cy="320040"/>
          </a:xfrm>
          <a:prstGeom prst="rect">
            <a:avLst/>
          </a:prstGeom>
          <a:noFill/>
        </p:spPr>
        <p:txBody>
          <a:bodyPr wrap="square">
            <a:spAutoFit/>
          </a:bodyPr>
          <a:lstStyle/>
          <a:p>
            <a:pPr algn="r">
              <a:spcAft>
                <a:spcPts val="800"/>
              </a:spcAft>
            </a:pPr>
            <a:r>
              <a:rPr sz="1100" b="0" i="0">
                <a:solidFill>
                  <a:srgbClr val="6B7280"/>
                </a:solidFill>
                <a:latin typeface="Segoe UI"/>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spAutoFit/>
          </a:bodyPr>
          <a:lstStyle/>
          <a:p>
            <a:pPr algn="l">
              <a:spcAft>
                <a:spcPts val="800"/>
              </a:spcAft>
            </a:pPr>
            <a:r>
              <a:rPr sz="1300" b="1" i="0">
                <a:solidFill>
                  <a:srgbClr val="EF4444"/>
                </a:solidFill>
                <a:latin typeface="Segoe UI"/>
              </a:rPr>
              <a:t>KEY FINDING #2</a:t>
            </a:r>
          </a:p>
        </p:txBody>
      </p:sp>
      <p:sp>
        <p:nvSpPr>
          <p:cNvPr id="3" name="TextBox 2"/>
          <p:cNvSpPr txBox="1"/>
          <p:nvPr/>
        </p:nvSpPr>
        <p:spPr>
          <a:xfrm>
            <a:off x="548640" y="658368"/>
            <a:ext cx="11064240" cy="822960"/>
          </a:xfrm>
          <a:prstGeom prst="rect">
            <a:avLst/>
          </a:prstGeom>
          <a:noFill/>
        </p:spPr>
        <p:txBody>
          <a:bodyPr wrap="square">
            <a:spAutoFit/>
          </a:bodyPr>
          <a:lstStyle/>
          <a:p>
            <a:pPr algn="l">
              <a:spcAft>
                <a:spcPts val="800"/>
              </a:spcAft>
            </a:pPr>
            <a:r>
              <a:rPr sz="3000" b="1" i="0">
                <a:solidFill>
                  <a:srgbClr val="111827"/>
                </a:solidFill>
                <a:latin typeface="Segoe UI"/>
              </a:rPr>
              <a:t>An honest negative result: the auto-tuner</a:t>
            </a:r>
          </a:p>
        </p:txBody>
      </p:sp>
      <p:sp>
        <p:nvSpPr>
          <p:cNvPr id="4" name="Rectangle 3"/>
          <p:cNvSpPr/>
          <p:nvPr/>
        </p:nvSpPr>
        <p:spPr>
          <a:xfrm>
            <a:off x="548640" y="1417320"/>
            <a:ext cx="11064240" cy="279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1200"/>
              </a:spcAft>
            </a:pPr>
            <a:r>
              <a:rPr sz="1700" b="1">
                <a:solidFill>
                  <a:srgbClr val="3B82F6"/>
                </a:solidFill>
              </a:rPr>
              <a:t>•  </a:t>
            </a:r>
            <a:r>
              <a:rPr sz="1700">
                <a:solidFill>
                  <a:srgbClr val="111827"/>
                </a:solidFill>
                <a:latin typeface="Segoe UI"/>
              </a:rPr>
              <a:t>A third contribution was an adaptive controller: software that watches how often its guesses are right and automatically adjusts how many words to guess ahead, live, including turning guessing off entirely when it doesn't help.</a:t>
            </a:r>
          </a:p>
          <a:p>
            <a:pPr>
              <a:spcAft>
                <a:spcPts val="1200"/>
              </a:spcAft>
            </a:pPr>
            <a:r>
              <a:rPr sz="1700" b="1">
                <a:solidFill>
                  <a:srgbClr val="3B82F6"/>
                </a:solidFill>
              </a:rPr>
              <a:t>•  </a:t>
            </a:r>
            <a:r>
              <a:rPr sz="1700">
                <a:solidFill>
                  <a:srgbClr val="111827"/>
                </a:solidFill>
                <a:latin typeface="Segoe UI"/>
              </a:rPr>
              <a:t>Measured honestly: the adaptive controller did NOT beat simply fixing the guess count at a good constant value. Best fixed setting: 1.117x speedup. Best adaptive controller: 1.102x -- slightly worse.</a:t>
            </a:r>
          </a:p>
          <a:p>
            <a:pPr>
              <a:spcAft>
                <a:spcPts val="1200"/>
              </a:spcAft>
            </a:pPr>
            <a:r>
              <a:rPr sz="1700" b="1">
                <a:solidFill>
                  <a:srgbClr val="3B82F6"/>
                </a:solidFill>
              </a:rPr>
              <a:t>•  </a:t>
            </a:r>
            <a:r>
              <a:rPr sz="1700">
                <a:solidFill>
                  <a:srgbClr val="111827"/>
                </a:solidFill>
                <a:latin typeface="Segoe UI"/>
              </a:rPr>
              <a:t>Why: the ideal fixed setting already captures 94% of the maximum possible gain, so there was very little room left for a smart controller to win -- and its lag in reacting cost more than that small remaining room.</a:t>
            </a:r>
          </a:p>
          <a:p>
            <a:pPr>
              <a:spcAft>
                <a:spcPts val="1200"/>
              </a:spcAft>
            </a:pPr>
            <a:r>
              <a:rPr sz="1700" b="1">
                <a:solidFill>
                  <a:srgbClr val="3B82F6"/>
                </a:solidFill>
              </a:rPr>
              <a:t>•  </a:t>
            </a:r>
            <a:r>
              <a:rPr sz="1700">
                <a:solidFill>
                  <a:srgbClr val="111827"/>
                </a:solidFill>
                <a:latin typeface="Segoe UI"/>
              </a:rPr>
              <a:t>This is reported transparently as a limitation, not hidden -- it is a real and useful finding about when adaptive tuning is and isn't worth building.</a:t>
            </a:r>
          </a:p>
        </p:txBody>
      </p:sp>
      <p:sp>
        <p:nvSpPr>
          <p:cNvPr id="6" name="TextBox 5"/>
          <p:cNvSpPr txBox="1"/>
          <p:nvPr/>
        </p:nvSpPr>
        <p:spPr>
          <a:xfrm>
            <a:off x="11247120" y="6446520"/>
            <a:ext cx="822960" cy="320040"/>
          </a:xfrm>
          <a:prstGeom prst="rect">
            <a:avLst/>
          </a:prstGeom>
          <a:noFill/>
        </p:spPr>
        <p:txBody>
          <a:bodyPr wrap="square">
            <a:spAutoFit/>
          </a:bodyPr>
          <a:lstStyle/>
          <a:p>
            <a:pPr algn="r">
              <a:spcAft>
                <a:spcPts val="800"/>
              </a:spcAft>
            </a:pPr>
            <a:r>
              <a:rPr sz="1100" b="0" i="0">
                <a:solidFill>
                  <a:srgbClr val="6B7280"/>
                </a:solidFill>
                <a:latin typeface="Segoe UI"/>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spAutoFit/>
          </a:bodyPr>
          <a:lstStyle/>
          <a:p>
            <a:pPr algn="l">
              <a:spcAft>
                <a:spcPts val="800"/>
              </a:spcAft>
            </a:pPr>
            <a:r>
              <a:rPr sz="1300" b="1" i="0">
                <a:solidFill>
                  <a:srgbClr val="3B82F6"/>
                </a:solidFill>
                <a:latin typeface="Segoe UI"/>
              </a:rPr>
              <a:t>UNDER THE HOOD</a:t>
            </a:r>
          </a:p>
        </p:txBody>
      </p:sp>
      <p:sp>
        <p:nvSpPr>
          <p:cNvPr id="3" name="TextBox 2"/>
          <p:cNvSpPr txBox="1"/>
          <p:nvPr/>
        </p:nvSpPr>
        <p:spPr>
          <a:xfrm>
            <a:off x="548640" y="658368"/>
            <a:ext cx="11064240" cy="822960"/>
          </a:xfrm>
          <a:prstGeom prst="rect">
            <a:avLst/>
          </a:prstGeom>
          <a:noFill/>
        </p:spPr>
        <p:txBody>
          <a:bodyPr wrap="square">
            <a:spAutoFit/>
          </a:bodyPr>
          <a:lstStyle/>
          <a:p>
            <a:pPr algn="l">
              <a:spcAft>
                <a:spcPts val="800"/>
              </a:spcAft>
            </a:pPr>
            <a:r>
              <a:rPr sz="3000" b="1" i="0">
                <a:solidFill>
                  <a:srgbClr val="111827"/>
                </a:solidFill>
                <a:latin typeface="Segoe UI"/>
              </a:rPr>
              <a:t>System architecture</a:t>
            </a:r>
          </a:p>
        </p:txBody>
      </p:sp>
      <p:sp>
        <p:nvSpPr>
          <p:cNvPr id="4" name="Rectangle 3"/>
          <p:cNvSpPr/>
          <p:nvPr/>
        </p:nvSpPr>
        <p:spPr>
          <a:xfrm>
            <a:off x="548640" y="1417320"/>
            <a:ext cx="11064240" cy="279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1200"/>
              </a:spcAft>
            </a:pPr>
            <a:r>
              <a:rPr sz="1800" b="1">
                <a:solidFill>
                  <a:srgbClr val="3B82F6"/>
                </a:solidFill>
              </a:rPr>
              <a:t>•  </a:t>
            </a:r>
            <a:r>
              <a:rPr sz="1800">
                <a:solidFill>
                  <a:srgbClr val="111827"/>
                </a:solidFill>
                <a:latin typeface="Segoe UI"/>
              </a:rPr>
              <a:t>Backend: Python, FastAPI web server, streaming results live to the browser as each word is generated (Server-Sent Events).</a:t>
            </a:r>
          </a:p>
          <a:p>
            <a:pPr>
              <a:spcAft>
                <a:spcPts val="1200"/>
              </a:spcAft>
            </a:pPr>
            <a:r>
              <a:rPr sz="1800" b="1">
                <a:solidFill>
                  <a:srgbClr val="3B82F6"/>
                </a:solidFill>
              </a:rPr>
              <a:t>•  </a:t>
            </a:r>
            <a:r>
              <a:rPr sz="1800">
                <a:solidFill>
                  <a:srgbClr val="111827"/>
                </a:solidFill>
                <a:latin typeface="Segoe UI"/>
              </a:rPr>
              <a:t>Frontend: a 4-page website built with plain HTML/CSS/JavaScript -- no external frameworks, so anyone can read and run it with zero setup steps.</a:t>
            </a:r>
          </a:p>
          <a:p>
            <a:pPr>
              <a:spcAft>
                <a:spcPts val="1200"/>
              </a:spcAft>
            </a:pPr>
            <a:r>
              <a:rPr sz="1800" b="1">
                <a:solidFill>
                  <a:srgbClr val="3B82F6"/>
                </a:solidFill>
              </a:rPr>
              <a:t>•  </a:t>
            </a:r>
            <a:r>
              <a:rPr sz="1800">
                <a:solidFill>
                  <a:srgbClr val="111827"/>
                </a:solidFill>
                <a:latin typeface="Segoe UI"/>
              </a:rPr>
              <a:t>Pages: a home page with headline results, a live interactive demo, an animated "how it works" walkthrough with real recorded data, and a full results dashboard with charts.</a:t>
            </a:r>
          </a:p>
          <a:p>
            <a:pPr>
              <a:spcAft>
                <a:spcPts val="1200"/>
              </a:spcAft>
            </a:pPr>
            <a:r>
              <a:rPr sz="1800" b="1">
                <a:solidFill>
                  <a:srgbClr val="3B82F6"/>
                </a:solidFill>
              </a:rPr>
              <a:t>•  </a:t>
            </a:r>
            <a:r>
              <a:rPr sz="1800">
                <a:solidFill>
                  <a:srgbClr val="111827"/>
                </a:solidFill>
                <a:latin typeface="Segoe UI"/>
              </a:rPr>
              <a:t>Every number shown in the website is read live from the actual result files on disk -- nothing on the site is typed in or made up by hand.</a:t>
            </a:r>
          </a:p>
        </p:txBody>
      </p:sp>
      <p:sp>
        <p:nvSpPr>
          <p:cNvPr id="6" name="TextBox 5"/>
          <p:cNvSpPr txBox="1"/>
          <p:nvPr/>
        </p:nvSpPr>
        <p:spPr>
          <a:xfrm>
            <a:off x="11247120" y="6446520"/>
            <a:ext cx="822960" cy="320040"/>
          </a:xfrm>
          <a:prstGeom prst="rect">
            <a:avLst/>
          </a:prstGeom>
          <a:noFill/>
        </p:spPr>
        <p:txBody>
          <a:bodyPr wrap="square">
            <a:spAutoFit/>
          </a:bodyPr>
          <a:lstStyle/>
          <a:p>
            <a:pPr algn="r">
              <a:spcAft>
                <a:spcPts val="800"/>
              </a:spcAft>
            </a:pPr>
            <a:r>
              <a:rPr sz="1100" b="0" i="0">
                <a:solidFill>
                  <a:srgbClr val="6B7280"/>
                </a:solidFill>
                <a:latin typeface="Segoe UI"/>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spAutoFit/>
          </a:bodyPr>
          <a:lstStyle/>
          <a:p>
            <a:pPr algn="l">
              <a:spcAft>
                <a:spcPts val="800"/>
              </a:spcAft>
            </a:pPr>
            <a:r>
              <a:rPr sz="1300" b="1" i="0">
                <a:solidFill>
                  <a:srgbClr val="3B82F6"/>
                </a:solidFill>
                <a:latin typeface="Segoe UI"/>
              </a:rPr>
              <a:t>LIVE DEMO</a:t>
            </a:r>
          </a:p>
        </p:txBody>
      </p:sp>
      <p:sp>
        <p:nvSpPr>
          <p:cNvPr id="3" name="TextBox 2"/>
          <p:cNvSpPr txBox="1"/>
          <p:nvPr/>
        </p:nvSpPr>
        <p:spPr>
          <a:xfrm>
            <a:off x="548640" y="658368"/>
            <a:ext cx="11064240" cy="822960"/>
          </a:xfrm>
          <a:prstGeom prst="rect">
            <a:avLst/>
          </a:prstGeom>
          <a:noFill/>
        </p:spPr>
        <p:txBody>
          <a:bodyPr wrap="square">
            <a:spAutoFit/>
          </a:bodyPr>
          <a:lstStyle/>
          <a:p>
            <a:pPr algn="l">
              <a:spcAft>
                <a:spcPts val="800"/>
              </a:spcAft>
            </a:pPr>
            <a:r>
              <a:rPr sz="3000" b="1" i="0">
                <a:solidFill>
                  <a:srgbClr val="111827"/>
                </a:solidFill>
                <a:latin typeface="Segoe UI"/>
              </a:rPr>
              <a:t>See it in action</a:t>
            </a:r>
          </a:p>
        </p:txBody>
      </p:sp>
      <p:sp>
        <p:nvSpPr>
          <p:cNvPr id="4" name="Rectangle 3"/>
          <p:cNvSpPr/>
          <p:nvPr/>
        </p:nvSpPr>
        <p:spPr>
          <a:xfrm>
            <a:off x="548640" y="1417320"/>
            <a:ext cx="11064240" cy="279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10881360" cy="548640"/>
          </a:xfrm>
          <a:prstGeom prst="rect">
            <a:avLst/>
          </a:prstGeom>
          <a:noFill/>
        </p:spPr>
        <p:txBody>
          <a:bodyPr wrap="square">
            <a:spAutoFit/>
          </a:bodyPr>
          <a:lstStyle/>
          <a:p>
            <a:pPr algn="l">
              <a:spcAft>
                <a:spcPts val="800"/>
              </a:spcAft>
            </a:pPr>
            <a:r>
              <a:rPr sz="1600" b="0" i="1">
                <a:solidFill>
                  <a:srgbClr val="6B7280"/>
                </a:solidFill>
                <a:latin typeface="Segoe UI"/>
              </a:rPr>
              <a:t>[Insert screenshot: the live demo page, mid-generation, showing colour-coded tokens]</a:t>
            </a:r>
          </a:p>
        </p:txBody>
      </p:sp>
      <p:sp>
        <p:nvSpPr>
          <p:cNvPr id="6" name="Rectangle 5"/>
          <p:cNvSpPr/>
          <p:nvPr/>
        </p:nvSpPr>
        <p:spPr>
          <a:xfrm>
            <a:off x="640080" y="2468880"/>
            <a:ext cx="10881360" cy="3566160"/>
          </a:xfrm>
          <a:prstGeom prst="rect">
            <a:avLst/>
          </a:prstGeom>
          <a:solidFill>
            <a:srgbClr val="E5E7EB"/>
          </a:solidFill>
          <a:ln>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a:solidFill>
                  <a:srgbClr val="6B7280"/>
                </a:solidFill>
              </a:rPr>
              <a:t>SCREENSHOT PLACEHOLDER — replace with a real capture of /demo</a:t>
            </a:r>
          </a:p>
        </p:txBody>
      </p:sp>
      <p:sp>
        <p:nvSpPr>
          <p:cNvPr id="7" name="TextBox 6"/>
          <p:cNvSpPr txBox="1"/>
          <p:nvPr/>
        </p:nvSpPr>
        <p:spPr>
          <a:xfrm>
            <a:off x="640080" y="6172200"/>
            <a:ext cx="10881360" cy="548640"/>
          </a:xfrm>
          <a:prstGeom prst="rect">
            <a:avLst/>
          </a:prstGeom>
          <a:noFill/>
        </p:spPr>
        <p:txBody>
          <a:bodyPr wrap="square">
            <a:spAutoFit/>
          </a:bodyPr>
          <a:lstStyle/>
          <a:p>
            <a:pPr>
              <a:spcAft>
                <a:spcPts val="1200"/>
              </a:spcAft>
            </a:pPr>
            <a:r>
              <a:rPr sz="1400" b="1">
                <a:solidFill>
                  <a:srgbClr val="3B82F6"/>
                </a:solidFill>
              </a:rPr>
              <a:t>•  </a:t>
            </a:r>
            <a:r>
              <a:rPr sz="1400">
                <a:solidFill>
                  <a:srgbClr val="111827"/>
                </a:solidFill>
                <a:latin typeface="Segoe UI"/>
              </a:rPr>
              <a:t>Green = draft guessed correctly. Amber = the big model corrected it. Violet = a free bonus word.</a:t>
            </a:r>
          </a:p>
        </p:txBody>
      </p:sp>
      <p:sp>
        <p:nvSpPr>
          <p:cNvPr id="8" name="TextBox 7"/>
          <p:cNvSpPr txBox="1"/>
          <p:nvPr/>
        </p:nvSpPr>
        <p:spPr>
          <a:xfrm>
            <a:off x="11247120" y="6446520"/>
            <a:ext cx="822960" cy="320040"/>
          </a:xfrm>
          <a:prstGeom prst="rect">
            <a:avLst/>
          </a:prstGeom>
          <a:noFill/>
        </p:spPr>
        <p:txBody>
          <a:bodyPr wrap="square">
            <a:spAutoFit/>
          </a:bodyPr>
          <a:lstStyle/>
          <a:p>
            <a:pPr algn="r">
              <a:spcAft>
                <a:spcPts val="800"/>
              </a:spcAft>
            </a:pPr>
            <a:r>
              <a:rPr sz="1100" b="0" i="0">
                <a:solidFill>
                  <a:srgbClr val="6B7280"/>
                </a:solidFill>
                <a:latin typeface="Segoe UI"/>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spAutoFit/>
          </a:bodyPr>
          <a:lstStyle/>
          <a:p>
            <a:pPr algn="l">
              <a:spcAft>
                <a:spcPts val="800"/>
              </a:spcAft>
            </a:pPr>
            <a:r>
              <a:rPr sz="1300" b="1" i="0">
                <a:solidFill>
                  <a:srgbClr val="EF4444"/>
                </a:solidFill>
                <a:latin typeface="Segoe UI"/>
              </a:rPr>
              <a:t>HONESTY CHECK</a:t>
            </a:r>
          </a:p>
        </p:txBody>
      </p:sp>
      <p:sp>
        <p:nvSpPr>
          <p:cNvPr id="3" name="TextBox 2"/>
          <p:cNvSpPr txBox="1"/>
          <p:nvPr/>
        </p:nvSpPr>
        <p:spPr>
          <a:xfrm>
            <a:off x="548640" y="658368"/>
            <a:ext cx="11064240" cy="822960"/>
          </a:xfrm>
          <a:prstGeom prst="rect">
            <a:avLst/>
          </a:prstGeom>
          <a:noFill/>
        </p:spPr>
        <p:txBody>
          <a:bodyPr wrap="square">
            <a:spAutoFit/>
          </a:bodyPr>
          <a:lstStyle/>
          <a:p>
            <a:pPr algn="l">
              <a:spcAft>
                <a:spcPts val="800"/>
              </a:spcAft>
            </a:pPr>
            <a:r>
              <a:rPr sz="3000" b="1" i="0">
                <a:solidFill>
                  <a:srgbClr val="111827"/>
                </a:solidFill>
                <a:latin typeface="Segoe UI"/>
              </a:rPr>
              <a:t>Limitations of this prototype</a:t>
            </a:r>
          </a:p>
        </p:txBody>
      </p:sp>
      <p:sp>
        <p:nvSpPr>
          <p:cNvPr id="4" name="Rectangle 3"/>
          <p:cNvSpPr/>
          <p:nvPr/>
        </p:nvSpPr>
        <p:spPr>
          <a:xfrm>
            <a:off x="548640" y="1417320"/>
            <a:ext cx="11064240" cy="279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1200"/>
              </a:spcAft>
            </a:pPr>
            <a:r>
              <a:rPr sz="1800" b="1">
                <a:solidFill>
                  <a:srgbClr val="3B82F6"/>
                </a:solidFill>
              </a:rPr>
              <a:t>•  </a:t>
            </a:r>
            <a:r>
              <a:rPr sz="1800">
                <a:solidFill>
                  <a:srgbClr val="111827"/>
                </a:solidFill>
                <a:latin typeface="Segoe UI"/>
              </a:rPr>
              <a:t>This is a research prototype, not a production product. It was tested on ONE machine (one specific GPU, one specific Windows configuration) -- results will differ on other hardware, especially on Linux.</a:t>
            </a:r>
          </a:p>
          <a:p>
            <a:pPr>
              <a:spcAft>
                <a:spcPts val="1200"/>
              </a:spcAft>
            </a:pPr>
            <a:r>
              <a:rPr sz="1800" b="1">
                <a:solidFill>
                  <a:srgbClr val="3B82F6"/>
                </a:solidFill>
              </a:rPr>
              <a:t>•  </a:t>
            </a:r>
            <a:r>
              <a:rPr sz="1800">
                <a:solidFill>
                  <a:srgbClr val="111827"/>
                </a:solidFill>
                <a:latin typeface="Segoe UI"/>
              </a:rPr>
              <a:t>Only single-request, greedy (deterministic) generation was tested -- no batching multiple users, no creative/random sampling.</a:t>
            </a:r>
          </a:p>
          <a:p>
            <a:pPr>
              <a:spcAft>
                <a:spcPts val="1200"/>
              </a:spcAft>
            </a:pPr>
            <a:r>
              <a:rPr sz="1800" b="1">
                <a:solidFill>
                  <a:srgbClr val="3B82F6"/>
                </a:solidFill>
              </a:rPr>
              <a:t>•  </a:t>
            </a:r>
            <a:r>
              <a:rPr sz="1800">
                <a:solidFill>
                  <a:srgbClr val="111827"/>
                </a:solidFill>
                <a:latin typeface="Segoe UI"/>
              </a:rPr>
              <a:t>The evaluation set is 210 prompts, partly hand-written and partly AI-assisted and then hand-edited -- a larger, fully independent test set would strengthen the results further.</a:t>
            </a:r>
          </a:p>
          <a:p>
            <a:pPr>
              <a:spcAft>
                <a:spcPts val="1200"/>
              </a:spcAft>
            </a:pPr>
            <a:r>
              <a:rPr sz="1800" b="1">
                <a:solidFill>
                  <a:srgbClr val="3B82F6"/>
                </a:solidFill>
              </a:rPr>
              <a:t>•  </a:t>
            </a:r>
            <a:r>
              <a:rPr sz="1800">
                <a:solidFill>
                  <a:srgbClr val="111827"/>
                </a:solidFill>
                <a:latin typeface="Segoe UI"/>
              </a:rPr>
              <a:t>The adaptive controller is a validated negative result, not a working improvement -- see Key Finding #2.</a:t>
            </a:r>
          </a:p>
        </p:txBody>
      </p:sp>
      <p:sp>
        <p:nvSpPr>
          <p:cNvPr id="6" name="TextBox 5"/>
          <p:cNvSpPr txBox="1"/>
          <p:nvPr/>
        </p:nvSpPr>
        <p:spPr>
          <a:xfrm>
            <a:off x="11247120" y="6446520"/>
            <a:ext cx="822960" cy="320040"/>
          </a:xfrm>
          <a:prstGeom prst="rect">
            <a:avLst/>
          </a:prstGeom>
          <a:noFill/>
        </p:spPr>
        <p:txBody>
          <a:bodyPr wrap="square">
            <a:spAutoFit/>
          </a:bodyPr>
          <a:lstStyle/>
          <a:p>
            <a:pPr algn="r">
              <a:spcAft>
                <a:spcPts val="800"/>
              </a:spcAft>
            </a:pPr>
            <a:r>
              <a:rPr sz="1100" b="0" i="0">
                <a:solidFill>
                  <a:srgbClr val="6B7280"/>
                </a:solidFill>
                <a:latin typeface="Segoe UI"/>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365760"/>
          </a:xfrm>
          <a:prstGeom prst="rect">
            <a:avLst/>
          </a:prstGeom>
          <a:noFill/>
        </p:spPr>
        <p:txBody>
          <a:bodyPr wrap="square">
            <a:spAutoFit/>
          </a:bodyPr>
          <a:lstStyle/>
          <a:p>
            <a:pPr algn="l">
              <a:spcAft>
                <a:spcPts val="800"/>
              </a:spcAft>
            </a:pPr>
            <a:r>
              <a:rPr sz="1300" b="1" i="0">
                <a:solidFill>
                  <a:srgbClr val="3B82F6"/>
                </a:solidFill>
                <a:latin typeface="Segoe UI"/>
              </a:rPr>
              <a:t>WHAT'S NEXT</a:t>
            </a:r>
          </a:p>
        </p:txBody>
      </p:sp>
      <p:sp>
        <p:nvSpPr>
          <p:cNvPr id="3" name="TextBox 2"/>
          <p:cNvSpPr txBox="1"/>
          <p:nvPr/>
        </p:nvSpPr>
        <p:spPr>
          <a:xfrm>
            <a:off x="548640" y="658368"/>
            <a:ext cx="11064240" cy="822960"/>
          </a:xfrm>
          <a:prstGeom prst="rect">
            <a:avLst/>
          </a:prstGeom>
          <a:noFill/>
        </p:spPr>
        <p:txBody>
          <a:bodyPr wrap="square">
            <a:spAutoFit/>
          </a:bodyPr>
          <a:lstStyle/>
          <a:p>
            <a:pPr algn="l">
              <a:spcAft>
                <a:spcPts val="800"/>
              </a:spcAft>
            </a:pPr>
            <a:r>
              <a:rPr sz="3000" b="1" i="0">
                <a:solidFill>
                  <a:srgbClr val="111827"/>
                </a:solidFill>
                <a:latin typeface="Segoe UI"/>
              </a:rPr>
              <a:t>Future directions</a:t>
            </a:r>
          </a:p>
        </p:txBody>
      </p:sp>
      <p:sp>
        <p:nvSpPr>
          <p:cNvPr id="4" name="Rectangle 3"/>
          <p:cNvSpPr/>
          <p:nvPr/>
        </p:nvSpPr>
        <p:spPr>
          <a:xfrm>
            <a:off x="548640" y="1417320"/>
            <a:ext cx="11064240" cy="279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37360"/>
            <a:ext cx="10881360" cy="4754880"/>
          </a:xfrm>
          <a:prstGeom prst="rect">
            <a:avLst/>
          </a:prstGeom>
          <a:noFill/>
        </p:spPr>
        <p:txBody>
          <a:bodyPr wrap="square">
            <a:spAutoFit/>
          </a:bodyPr>
          <a:lstStyle/>
          <a:p>
            <a:pPr>
              <a:spcAft>
                <a:spcPts val="1200"/>
              </a:spcAft>
            </a:pPr>
            <a:r>
              <a:rPr sz="1800" b="1">
                <a:solidFill>
                  <a:srgbClr val="3B82F6"/>
                </a:solidFill>
              </a:rPr>
              <a:t>•  </a:t>
            </a:r>
            <a:r>
              <a:rPr sz="1800">
                <a:solidFill>
                  <a:srgbClr val="111827"/>
                </a:solidFill>
                <a:latin typeface="Segoe UI"/>
              </a:rPr>
              <a:t>Test on other GPUs and on Linux, where the low-level overhead this project measured is expected to behave differently.</a:t>
            </a:r>
          </a:p>
          <a:p>
            <a:pPr>
              <a:spcAft>
                <a:spcPts val="1200"/>
              </a:spcAft>
            </a:pPr>
            <a:r>
              <a:rPr sz="1800" b="1">
                <a:solidFill>
                  <a:srgbClr val="3B82F6"/>
                </a:solidFill>
              </a:rPr>
              <a:t>•  </a:t>
            </a:r>
            <a:r>
              <a:rPr sz="1800">
                <a:solidFill>
                  <a:srgbClr val="111827"/>
                </a:solidFill>
                <a:latin typeface="Segoe UI"/>
              </a:rPr>
              <a:t>Design a smarter adaptive controller that models acceptance rate per-position rather than as one fixed number -- the identified root cause of why the current controller underperforms.</a:t>
            </a:r>
          </a:p>
          <a:p>
            <a:pPr>
              <a:spcAft>
                <a:spcPts val="1200"/>
              </a:spcAft>
            </a:pPr>
            <a:r>
              <a:rPr sz="1800" b="1">
                <a:solidFill>
                  <a:srgbClr val="3B82F6"/>
                </a:solidFill>
              </a:rPr>
              <a:t>•  </a:t>
            </a:r>
            <a:r>
              <a:rPr sz="1800">
                <a:solidFill>
                  <a:srgbClr val="111827"/>
                </a:solidFill>
                <a:latin typeface="Segoe UI"/>
              </a:rPr>
              <a:t>Extend testing to batched, multi-user serving, which is how most real products actually run these models.</a:t>
            </a:r>
          </a:p>
          <a:p>
            <a:pPr>
              <a:spcAft>
                <a:spcPts val="1200"/>
              </a:spcAft>
            </a:pPr>
            <a:r>
              <a:rPr sz="1800" b="1">
                <a:solidFill>
                  <a:srgbClr val="3B82F6"/>
                </a:solidFill>
              </a:rPr>
              <a:t>•  </a:t>
            </a:r>
            <a:r>
              <a:rPr sz="1800">
                <a:solidFill>
                  <a:srgbClr val="111827"/>
                </a:solidFill>
                <a:latin typeface="Segoe UI"/>
              </a:rPr>
              <a:t>Grow the evaluation set with more prompts and more categories for even stronger statistical confidence.</a:t>
            </a:r>
          </a:p>
        </p:txBody>
      </p:sp>
      <p:sp>
        <p:nvSpPr>
          <p:cNvPr id="6" name="TextBox 5"/>
          <p:cNvSpPr txBox="1"/>
          <p:nvPr/>
        </p:nvSpPr>
        <p:spPr>
          <a:xfrm>
            <a:off x="11247120" y="6446520"/>
            <a:ext cx="822960" cy="320040"/>
          </a:xfrm>
          <a:prstGeom prst="rect">
            <a:avLst/>
          </a:prstGeom>
          <a:noFill/>
        </p:spPr>
        <p:txBody>
          <a:bodyPr wrap="square">
            <a:spAutoFit/>
          </a:bodyPr>
          <a:lstStyle/>
          <a:p>
            <a:pPr algn="r">
              <a:spcAft>
                <a:spcPts val="800"/>
              </a:spcAft>
            </a:pPr>
            <a:r>
              <a:rPr sz="1100" b="0" i="0">
                <a:solidFill>
                  <a:srgbClr val="6B7280"/>
                </a:solidFill>
                <a:latin typeface="Segoe UI"/>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1463040"/>
            <a:ext cx="10332720" cy="914400"/>
          </a:xfrm>
          <a:prstGeom prst="rect">
            <a:avLst/>
          </a:prstGeom>
          <a:noFill/>
        </p:spPr>
        <p:txBody>
          <a:bodyPr wrap="square">
            <a:spAutoFit/>
          </a:bodyPr>
          <a:lstStyle/>
          <a:p>
            <a:pPr algn="ctr">
              <a:spcAft>
                <a:spcPts val="800"/>
              </a:spcAft>
            </a:pPr>
            <a:r>
              <a:rPr sz="3200" b="1" i="0">
                <a:solidFill>
                  <a:srgbClr val="FFFFFF"/>
                </a:solidFill>
                <a:latin typeface="Segoe UI"/>
              </a:rPr>
              <a:t>Summary</a:t>
            </a:r>
          </a:p>
        </p:txBody>
      </p:sp>
      <p:sp>
        <p:nvSpPr>
          <p:cNvPr id="3" name="TextBox 2"/>
          <p:cNvSpPr txBox="1"/>
          <p:nvPr/>
        </p:nvSpPr>
        <p:spPr>
          <a:xfrm>
            <a:off x="1188720" y="2560320"/>
            <a:ext cx="9784080" cy="2743200"/>
          </a:xfrm>
          <a:prstGeom prst="rect">
            <a:avLst/>
          </a:prstGeom>
          <a:noFill/>
        </p:spPr>
        <p:txBody>
          <a:bodyPr wrap="square">
            <a:spAutoFit/>
          </a:bodyPr>
          <a:lstStyle/>
          <a:p>
            <a:pPr>
              <a:spcAft>
                <a:spcPts val="1400"/>
              </a:spcAft>
            </a:pPr>
            <a:r>
              <a:rPr sz="1800">
                <a:solidFill>
                  <a:srgbClr val="E5E7EB"/>
                </a:solidFill>
                <a:latin typeface="Segoe UI"/>
              </a:rPr>
              <a:t>✓  A small model guessing ahead + a big model checking in one pass = faster text, same quality</a:t>
            </a:r>
          </a:p>
          <a:p>
            <a:pPr>
              <a:spcAft>
                <a:spcPts val="1400"/>
              </a:spcAft>
            </a:pPr>
            <a:r>
              <a:rPr sz="1800">
                <a:solidFill>
                  <a:srgbClr val="E5E7EB"/>
                </a:solidFill>
                <a:latin typeface="Segoe UI"/>
              </a:rPr>
              <a:t>✓  Up to 2.69x measured speedup on real hardware, with zero decoder bugs found</a:t>
            </a:r>
          </a:p>
          <a:p>
            <a:pPr>
              <a:spcAft>
                <a:spcPts val="1400"/>
              </a:spcAft>
            </a:pPr>
            <a:r>
              <a:rPr sz="1800">
                <a:solidFill>
                  <a:srgbClr val="E5E7EB"/>
                </a:solidFill>
                <a:latin typeface="Segoe UI"/>
              </a:rPr>
              <a:t>✓  Honest science: reported what worked (fixed guessing) AND what didn't (the auto-tuner)</a:t>
            </a:r>
          </a:p>
          <a:p>
            <a:pPr>
              <a:spcAft>
                <a:spcPts val="1400"/>
              </a:spcAft>
            </a:pPr>
            <a:r>
              <a:rPr sz="1800">
                <a:solidFill>
                  <a:srgbClr val="E5E7EB"/>
                </a:solidFill>
                <a:latin typeface="Segoe UI"/>
              </a:rPr>
              <a:t>✓  Fully working, testable prototype with a live website demo</a:t>
            </a:r>
          </a:p>
        </p:txBody>
      </p:sp>
      <p:sp>
        <p:nvSpPr>
          <p:cNvPr id="4" name="TextBox 3"/>
          <p:cNvSpPr txBox="1"/>
          <p:nvPr/>
        </p:nvSpPr>
        <p:spPr>
          <a:xfrm>
            <a:off x="914400" y="5760720"/>
            <a:ext cx="10332720" cy="731520"/>
          </a:xfrm>
          <a:prstGeom prst="rect">
            <a:avLst/>
          </a:prstGeom>
          <a:noFill/>
        </p:spPr>
        <p:txBody>
          <a:bodyPr wrap="square">
            <a:spAutoFit/>
          </a:bodyPr>
          <a:lstStyle/>
          <a:p>
            <a:pPr algn="ctr">
              <a:spcAft>
                <a:spcPts val="800"/>
              </a:spcAft>
            </a:pPr>
            <a:r>
              <a:rPr sz="2200" b="1" i="0">
                <a:solidFill>
                  <a:srgbClr val="FFFFFF"/>
                </a:solidFill>
                <a:latin typeface="Segoe UI"/>
              </a:rPr>
              <a:t>Thank you  —  Project: AI Crossover Point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